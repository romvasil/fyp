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15119350" cy="21383625"/>
  <p:notesSz cx="6858000" cy="9144000"/>
  <p:defaultTextStyle>
    <a:defPPr>
      <a:defRPr lang="en-US"/>
    </a:defPPr>
    <a:lvl1pPr marL="0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34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  <p15:guide id="3" pos="339" userDrawn="1">
          <p15:clr>
            <a:srgbClr val="A4A3A4"/>
          </p15:clr>
        </p15:guide>
        <p15:guide id="4" pos="9185" userDrawn="1">
          <p15:clr>
            <a:srgbClr val="A4A3A4"/>
          </p15:clr>
        </p15:guide>
        <p15:guide id="5" orient="horz" pos="339" userDrawn="1">
          <p15:clr>
            <a:srgbClr val="A4A3A4"/>
          </p15:clr>
        </p15:guide>
        <p15:guide id="6" orient="horz" pos="952" userDrawn="1">
          <p15:clr>
            <a:srgbClr val="A4A3A4"/>
          </p15:clr>
        </p15:guide>
        <p15:guide id="7" orient="horz" pos="13131" userDrawn="1">
          <p15:clr>
            <a:srgbClr val="A4A3A4"/>
          </p15:clr>
        </p15:guide>
        <p15:guide id="8" pos="4921" userDrawn="1">
          <p15:clr>
            <a:srgbClr val="A4A3A4"/>
          </p15:clr>
        </p15:guide>
        <p15:guide id="9" pos="46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/>
    <p:restoredTop sz="94740"/>
  </p:normalViewPr>
  <p:slideViewPr>
    <p:cSldViewPr snapToGrid="0" snapToObjects="1" showGuides="1">
      <p:cViewPr>
        <p:scale>
          <a:sx n="61" d="100"/>
          <a:sy n="61" d="100"/>
        </p:scale>
        <p:origin x="2368" y="144"/>
      </p:cViewPr>
      <p:guideLst>
        <p:guide orient="horz" pos="6735"/>
        <p:guide pos="4762"/>
        <p:guide pos="339"/>
        <p:guide pos="9185"/>
        <p:guide orient="horz" pos="339"/>
        <p:guide orient="horz" pos="952"/>
        <p:guide orient="horz" pos="13131"/>
        <p:guide pos="4921"/>
        <p:guide pos="46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2664" y="16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AC84FD-3468-CE4E-9A53-304D1734028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4CC00E3E-9509-704C-B693-0E76135B5919}">
      <dgm:prSet phldrT="[Text]" custT="1"/>
      <dgm:spPr>
        <a:solidFill>
          <a:schemeClr val="tx1">
            <a:lumMod val="75000"/>
            <a:lumOff val="25000"/>
          </a:schemeClr>
        </a:solidFill>
      </dgm:spPr>
      <dgm:t xml:space="preserve">
        <a:bodyPr/>
        <a:lstStyle/>
        <a:p>
          <a:pPr algn="ctr"/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1. Gather data
recordings of calm conversations and lively video gameplay</a:t>
          </a:r>
          <a:r>
            <a:rPr lang="en-US" sz="1800" b="1" i="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</a:p>
      </dgm:t>
    </dgm:pt>
    <dgm:pt modelId="{5C152009-DABD-FA4C-960E-0490D5897E37}" type="parTrans" cxnId="{9B597C33-BE61-A44D-BD3B-7C309916007F}">
      <dgm:prSet/>
      <dgm:spPr/>
      <dgm:t xml:space="preserve">
        <a:bodyPr/>
        <a:lstStyle/>
        <a:p>
          <a:endParaRPr lang="en-US"/>
        </a:p>
      </dgm:t>
    </dgm:pt>
    <dgm:pt modelId="{A73D1237-8309-774D-B08F-C4B17AD21A71}" type="sibTrans" cxnId="{9B597C33-BE61-A44D-BD3B-7C309916007F}">
      <dgm:prSet/>
      <dgm:spPr>
        <a:solidFill>
          <a:srgbClr val="BA0C2F"/>
        </a:solidFill>
      </dgm:spPr>
      <dgm:t xml:space="preserve">
        <a:bodyPr/>
        <a:lstStyle/>
        <a:p>
          <a:endParaRPr lang="en-US">
            <a:solidFill>
              <a:srgbClr val="BA0C2F"/>
            </a:solidFill>
          </a:endParaRPr>
        </a:p>
      </dgm:t>
    </dgm:pt>
    <dgm:pt modelId="{BC5C8A4E-1E9B-1047-916C-FA24DB1BE22F}">
      <dgm:prSet phldrT="[Text]" custT="1"/>
      <dgm:spPr>
        <a:solidFill>
          <a:schemeClr val="tx1">
            <a:lumMod val="75000"/>
            <a:lumOff val="25000"/>
          </a:schemeClr>
        </a:solidFill>
      </dgm:spPr>
      <dgm:t xml:space="preserve">
        <a:bodyPr/>
        <a:lstStyle/>
        <a:p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2. Build the AI
three models of increasing intelligence</a:t>
          </a:r>
          <a:r>
            <a:rPr lang="en-US" sz="1800" b="1" i="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endParaRPr lang="en-US" sz="1800" dirty="0"/>
        </a:p>
      </dgm:t>
    </dgm:pt>
    <dgm:pt modelId="{FB52321C-06D1-1F4A-A1CA-2F80EFE0EED3}" type="parTrans" cxnId="{E367D124-89E8-5B47-B2F7-4F16C79D29C4}">
      <dgm:prSet/>
      <dgm:spPr/>
      <dgm:t xml:space="preserve">
        <a:bodyPr/>
        <a:lstStyle/>
        <a:p>
          <a:endParaRPr lang="en-US"/>
        </a:p>
      </dgm:t>
    </dgm:pt>
    <dgm:pt modelId="{3204FFE0-CE28-BC4E-B7AF-0C61314CED3D}" type="sibTrans" cxnId="{E367D124-89E8-5B47-B2F7-4F16C79D29C4}">
      <dgm:prSet/>
      <dgm:spPr>
        <a:solidFill>
          <a:srgbClr val="BA0C2F"/>
        </a:solidFill>
      </dgm:spPr>
      <dgm:t xml:space="preserve">
        <a:bodyPr/>
        <a:lstStyle/>
        <a:p>
          <a:endParaRPr lang="en-US">
            <a:solidFill>
              <a:srgbClr val="BA0C2F"/>
            </a:solidFill>
          </a:endParaRPr>
        </a:p>
      </dgm:t>
    </dgm:pt>
    <dgm:pt modelId="{49F65394-6976-5846-8B41-39C8693EBCDE}">
      <dgm:prSet phldrT="[Text]" custT="1"/>
      <dgm:spPr>
        <a:solidFill>
          <a:schemeClr val="tx1">
            <a:lumMod val="75000"/>
            <a:lumOff val="25000"/>
          </a:schemeClr>
        </a:solidFill>
      </dgm:spPr>
      <dgm:t xml:space="preserve">
        <a:bodyPr/>
        <a:lstStyle/>
        <a:p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3. Add honesty
teach each AI to say how sure it is</a:t>
          </a:r>
          <a:r>
            <a:rPr lang="en-US" sz="1800" b="1" i="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endParaRPr lang="en-US" sz="1800" dirty="0"/>
        </a:p>
      </dgm:t>
    </dgm:pt>
    <dgm:pt modelId="{94370456-77E2-C34E-A1B0-F84B307E0704}" type="parTrans" cxnId="{6F5D2010-1CF8-B645-AF0D-B6D7EBDABCA1}">
      <dgm:prSet/>
      <dgm:spPr/>
      <dgm:t xml:space="preserve">
        <a:bodyPr/>
        <a:lstStyle/>
        <a:p>
          <a:endParaRPr lang="en-US"/>
        </a:p>
      </dgm:t>
    </dgm:pt>
    <dgm:pt modelId="{351B2749-8C22-3F4A-A9C0-263DBF4C6DA8}" type="sibTrans" cxnId="{6F5D2010-1CF8-B645-AF0D-B6D7EBDABCA1}">
      <dgm:prSet/>
      <dgm:spPr/>
      <dgm:t xml:space="preserve">
        <a:bodyPr/>
        <a:lstStyle/>
        <a:p>
          <a:endParaRPr lang="en-US"/>
        </a:p>
      </dgm:t>
    </dgm:pt>
    <dgm:pt modelId="{74D3D9CE-CD0C-2641-803D-83008822A3F3}">
      <dgm:prSet custT="1"/>
      <dgm:spPr>
        <a:solidFill>
          <a:schemeClr val="tx1">
            <a:lumMod val="75000"/>
            <a:lumOff val="25000"/>
          </a:schemeClr>
        </a:solidFill>
        <a:ln>
          <a:noFill/>
        </a:ln>
      </dgm:spPr>
      <dgm:t xml:space="preserve">
        <a:bodyPr/>
        <a:lstStyle/>
        <a:p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4. Test it
does “90% sure” really mean right 9 times out of 10?</a:t>
          </a:r>
          <a:r>
            <a:rPr lang="en-US" sz="1800" b="1" i="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endParaRPr lang="en-US" sz="1800" dirty="0"/>
        </a:p>
      </dgm:t>
    </dgm:pt>
    <dgm:pt modelId="{C61DCECE-6ECE-BE4F-A799-93DC04E4A599}" type="parTrans" cxnId="{5ACC6438-853B-B04A-8EB6-1FD27B6FBB4B}">
      <dgm:prSet/>
      <dgm:spPr/>
      <dgm:t xml:space="preserve">
        <a:bodyPr/>
        <a:lstStyle/>
        <a:p>
          <a:endParaRPr lang="en-US"/>
        </a:p>
      </dgm:t>
    </dgm:pt>
    <dgm:pt modelId="{CF62E1D4-6205-5C4A-867F-D1ADA82D9EAE}" type="sibTrans" cxnId="{5ACC6438-853B-B04A-8EB6-1FD27B6FBB4B}">
      <dgm:prSet/>
      <dgm:spPr>
        <a:solidFill>
          <a:srgbClr val="C00000"/>
        </a:solidFill>
      </dgm:spPr>
      <dgm:t xml:space="preserve">
        <a:bodyPr/>
        <a:lstStyle/>
        <a:p>
          <a:endParaRPr lang="en-US"/>
        </a:p>
      </dgm:t>
    </dgm:pt>
    <dgm:pt modelId="{4F699F35-32B6-C84D-ADA7-2D8FBC727D4C}" type="pres">
      <dgm:prSet presAssocID="{72AC84FD-3468-CE4E-9A53-304D17340289}" presName="Name0" presStyleCnt="0">
        <dgm:presLayoutVars>
          <dgm:dir/>
          <dgm:resizeHandles val="exact"/>
        </dgm:presLayoutVars>
      </dgm:prSet>
      <dgm:spPr/>
    </dgm:pt>
    <dgm:pt modelId="{6BFECCEA-4FA0-0547-A8A7-A8E881B5084F}" type="pres">
      <dgm:prSet presAssocID="{4CC00E3E-9509-704C-B693-0E76135B5919}" presName="node" presStyleLbl="node1" presStyleIdx="0" presStyleCnt="4">
        <dgm:presLayoutVars>
          <dgm:bulletEnabled val="1"/>
        </dgm:presLayoutVars>
      </dgm:prSet>
      <dgm:spPr/>
    </dgm:pt>
    <dgm:pt modelId="{37F2F95F-94C5-0345-A1A8-52C1A829AD93}" type="pres">
      <dgm:prSet presAssocID="{A73D1237-8309-774D-B08F-C4B17AD21A71}" presName="sibTrans" presStyleLbl="sibTrans2D1" presStyleIdx="0" presStyleCnt="3"/>
      <dgm:spPr/>
    </dgm:pt>
    <dgm:pt modelId="{EC36A070-5ADF-704E-A6D3-3966E876A121}" type="pres">
      <dgm:prSet presAssocID="{A73D1237-8309-774D-B08F-C4B17AD21A71}" presName="connectorText" presStyleLbl="sibTrans2D1" presStyleIdx="0" presStyleCnt="3"/>
      <dgm:spPr/>
    </dgm:pt>
    <dgm:pt modelId="{6F3C7645-1725-554B-B121-4C8334E52F6E}" type="pres">
      <dgm:prSet presAssocID="{74D3D9CE-CD0C-2641-803D-83008822A3F3}" presName="node" presStyleLbl="node1" presStyleIdx="1" presStyleCnt="4">
        <dgm:presLayoutVars>
          <dgm:bulletEnabled val="1"/>
        </dgm:presLayoutVars>
      </dgm:prSet>
      <dgm:spPr/>
    </dgm:pt>
    <dgm:pt modelId="{CB52ACBD-5938-FB48-88B7-057084F24704}" type="pres">
      <dgm:prSet presAssocID="{CF62E1D4-6205-5C4A-867F-D1ADA82D9EAE}" presName="sibTrans" presStyleLbl="sibTrans2D1" presStyleIdx="1" presStyleCnt="3"/>
      <dgm:spPr/>
    </dgm:pt>
    <dgm:pt modelId="{1DCC8AC0-2164-EC49-9EB3-1616D5B7ADA6}" type="pres">
      <dgm:prSet presAssocID="{CF62E1D4-6205-5C4A-867F-D1ADA82D9EAE}" presName="connectorText" presStyleLbl="sibTrans2D1" presStyleIdx="1" presStyleCnt="3"/>
      <dgm:spPr/>
    </dgm:pt>
    <dgm:pt modelId="{A46BDCF8-E4B1-C848-B43D-D863BDB7419E}" type="pres">
      <dgm:prSet presAssocID="{BC5C8A4E-1E9B-1047-916C-FA24DB1BE22F}" presName="node" presStyleLbl="node1" presStyleIdx="2" presStyleCnt="4">
        <dgm:presLayoutVars>
          <dgm:bulletEnabled val="1"/>
        </dgm:presLayoutVars>
      </dgm:prSet>
      <dgm:spPr/>
    </dgm:pt>
    <dgm:pt modelId="{7A0AD155-17AB-084B-93C4-F066DDC3EB9B}" type="pres">
      <dgm:prSet presAssocID="{3204FFE0-CE28-BC4E-B7AF-0C61314CED3D}" presName="sibTrans" presStyleLbl="sibTrans2D1" presStyleIdx="2" presStyleCnt="3"/>
      <dgm:spPr/>
    </dgm:pt>
    <dgm:pt modelId="{8D6DBA23-C34D-2149-A1D7-4E6257E23DF7}" type="pres">
      <dgm:prSet presAssocID="{3204FFE0-CE28-BC4E-B7AF-0C61314CED3D}" presName="connectorText" presStyleLbl="sibTrans2D1" presStyleIdx="2" presStyleCnt="3"/>
      <dgm:spPr/>
    </dgm:pt>
    <dgm:pt modelId="{B5ED4907-135A-EF48-946C-0B1D0262EF2E}" type="pres">
      <dgm:prSet presAssocID="{49F65394-6976-5846-8B41-39C8693EBCDE}" presName="node" presStyleLbl="node1" presStyleIdx="3" presStyleCnt="4" custLinFactX="97226" custLinFactNeighborX="100000">
        <dgm:presLayoutVars>
          <dgm:bulletEnabled val="1"/>
        </dgm:presLayoutVars>
      </dgm:prSet>
      <dgm:spPr/>
    </dgm:pt>
  </dgm:ptLst>
  <dgm:cxnLst>
    <dgm:cxn modelId="{6F5D2010-1CF8-B645-AF0D-B6D7EBDABCA1}" srcId="{72AC84FD-3468-CE4E-9A53-304D17340289}" destId="{49F65394-6976-5846-8B41-39C8693EBCDE}" srcOrd="3" destOrd="0" parTransId="{94370456-77E2-C34E-A1B0-F84B307E0704}" sibTransId="{351B2749-8C22-3F4A-A9C0-263DBF4C6DA8}"/>
    <dgm:cxn modelId="{EBC2CE1B-0955-2446-8767-9F37316C8097}" type="presOf" srcId="{3204FFE0-CE28-BC4E-B7AF-0C61314CED3D}" destId="{8D6DBA23-C34D-2149-A1D7-4E6257E23DF7}" srcOrd="1" destOrd="0" presId="urn:microsoft.com/office/officeart/2005/8/layout/process1"/>
    <dgm:cxn modelId="{E367D124-89E8-5B47-B2F7-4F16C79D29C4}" srcId="{72AC84FD-3468-CE4E-9A53-304D17340289}" destId="{BC5C8A4E-1E9B-1047-916C-FA24DB1BE22F}" srcOrd="2" destOrd="0" parTransId="{FB52321C-06D1-1F4A-A1CA-2F80EFE0EED3}" sibTransId="{3204FFE0-CE28-BC4E-B7AF-0C61314CED3D}"/>
    <dgm:cxn modelId="{9B597C33-BE61-A44D-BD3B-7C309916007F}" srcId="{72AC84FD-3468-CE4E-9A53-304D17340289}" destId="{4CC00E3E-9509-704C-B693-0E76135B5919}" srcOrd="0" destOrd="0" parTransId="{5C152009-DABD-FA4C-960E-0490D5897E37}" sibTransId="{A73D1237-8309-774D-B08F-C4B17AD21A71}"/>
    <dgm:cxn modelId="{5B2F2334-4994-8640-8C34-F9724703CEA2}" type="presOf" srcId="{72AC84FD-3468-CE4E-9A53-304D17340289}" destId="{4F699F35-32B6-C84D-ADA7-2D8FBC727D4C}" srcOrd="0" destOrd="0" presId="urn:microsoft.com/office/officeart/2005/8/layout/process1"/>
    <dgm:cxn modelId="{5ACC6438-853B-B04A-8EB6-1FD27B6FBB4B}" srcId="{72AC84FD-3468-CE4E-9A53-304D17340289}" destId="{74D3D9CE-CD0C-2641-803D-83008822A3F3}" srcOrd="1" destOrd="0" parTransId="{C61DCECE-6ECE-BE4F-A799-93DC04E4A599}" sibTransId="{CF62E1D4-6205-5C4A-867F-D1ADA82D9EAE}"/>
    <dgm:cxn modelId="{801A0056-0184-0D4B-AF41-44CC422F3868}" type="presOf" srcId="{CF62E1D4-6205-5C4A-867F-D1ADA82D9EAE}" destId="{1DCC8AC0-2164-EC49-9EB3-1616D5B7ADA6}" srcOrd="1" destOrd="0" presId="urn:microsoft.com/office/officeart/2005/8/layout/process1"/>
    <dgm:cxn modelId="{37E05D66-BCEC-ED4C-813D-B88C321B49DB}" type="presOf" srcId="{4CC00E3E-9509-704C-B693-0E76135B5919}" destId="{6BFECCEA-4FA0-0547-A8A7-A8E881B5084F}" srcOrd="0" destOrd="0" presId="urn:microsoft.com/office/officeart/2005/8/layout/process1"/>
    <dgm:cxn modelId="{BA48FA66-724F-0C4E-93EC-BCAEF06A847D}" type="presOf" srcId="{49F65394-6976-5846-8B41-39C8693EBCDE}" destId="{B5ED4907-135A-EF48-946C-0B1D0262EF2E}" srcOrd="0" destOrd="0" presId="urn:microsoft.com/office/officeart/2005/8/layout/process1"/>
    <dgm:cxn modelId="{1EE4C66E-47E5-2E49-8501-FECCA4DFCC9C}" type="presOf" srcId="{BC5C8A4E-1E9B-1047-916C-FA24DB1BE22F}" destId="{A46BDCF8-E4B1-C848-B43D-D863BDB7419E}" srcOrd="0" destOrd="0" presId="urn:microsoft.com/office/officeart/2005/8/layout/process1"/>
    <dgm:cxn modelId="{4A914B93-ED1C-734D-A073-9BA08D862385}" type="presOf" srcId="{A73D1237-8309-774D-B08F-C4B17AD21A71}" destId="{EC36A070-5ADF-704E-A6D3-3966E876A121}" srcOrd="1" destOrd="0" presId="urn:microsoft.com/office/officeart/2005/8/layout/process1"/>
    <dgm:cxn modelId="{EADF989C-D44E-8F4F-9020-05D0E2B1369F}" type="presOf" srcId="{CF62E1D4-6205-5C4A-867F-D1ADA82D9EAE}" destId="{CB52ACBD-5938-FB48-88B7-057084F24704}" srcOrd="0" destOrd="0" presId="urn:microsoft.com/office/officeart/2005/8/layout/process1"/>
    <dgm:cxn modelId="{E4AAA9C7-4409-5541-87D5-E841C1ABD18F}" type="presOf" srcId="{3204FFE0-CE28-BC4E-B7AF-0C61314CED3D}" destId="{7A0AD155-17AB-084B-93C4-F066DDC3EB9B}" srcOrd="0" destOrd="0" presId="urn:microsoft.com/office/officeart/2005/8/layout/process1"/>
    <dgm:cxn modelId="{AEABE7DA-CF0F-3A4F-9AF7-11931B888A84}" type="presOf" srcId="{A73D1237-8309-774D-B08F-C4B17AD21A71}" destId="{37F2F95F-94C5-0345-A1A8-52C1A829AD93}" srcOrd="0" destOrd="0" presId="urn:microsoft.com/office/officeart/2005/8/layout/process1"/>
    <dgm:cxn modelId="{4AF63FE9-6EBB-794D-B975-4675047744D4}" type="presOf" srcId="{74D3D9CE-CD0C-2641-803D-83008822A3F3}" destId="{6F3C7645-1725-554B-B121-4C8334E52F6E}" srcOrd="0" destOrd="0" presId="urn:microsoft.com/office/officeart/2005/8/layout/process1"/>
    <dgm:cxn modelId="{2DF055CE-60E0-6645-A292-1FEDBB57B377}" type="presParOf" srcId="{4F699F35-32B6-C84D-ADA7-2D8FBC727D4C}" destId="{6BFECCEA-4FA0-0547-A8A7-A8E881B5084F}" srcOrd="0" destOrd="0" presId="urn:microsoft.com/office/officeart/2005/8/layout/process1"/>
    <dgm:cxn modelId="{D37B32DC-5121-D04C-A41B-9AC277A456DF}" type="presParOf" srcId="{4F699F35-32B6-C84D-ADA7-2D8FBC727D4C}" destId="{37F2F95F-94C5-0345-A1A8-52C1A829AD93}" srcOrd="1" destOrd="0" presId="urn:microsoft.com/office/officeart/2005/8/layout/process1"/>
    <dgm:cxn modelId="{02B93B24-67A5-2F49-9734-1099E6F298AB}" type="presParOf" srcId="{37F2F95F-94C5-0345-A1A8-52C1A829AD93}" destId="{EC36A070-5ADF-704E-A6D3-3966E876A121}" srcOrd="0" destOrd="0" presId="urn:microsoft.com/office/officeart/2005/8/layout/process1"/>
    <dgm:cxn modelId="{390EC8C4-A9F4-5B46-A962-A203DDF2732A}" type="presParOf" srcId="{4F699F35-32B6-C84D-ADA7-2D8FBC727D4C}" destId="{6F3C7645-1725-554B-B121-4C8334E52F6E}" srcOrd="2" destOrd="0" presId="urn:microsoft.com/office/officeart/2005/8/layout/process1"/>
    <dgm:cxn modelId="{840864D3-D72D-E741-8268-65DB8322BB6F}" type="presParOf" srcId="{4F699F35-32B6-C84D-ADA7-2D8FBC727D4C}" destId="{CB52ACBD-5938-FB48-88B7-057084F24704}" srcOrd="3" destOrd="0" presId="urn:microsoft.com/office/officeart/2005/8/layout/process1"/>
    <dgm:cxn modelId="{039BC15C-63F3-8645-8396-9868B5FF9400}" type="presParOf" srcId="{CB52ACBD-5938-FB48-88B7-057084F24704}" destId="{1DCC8AC0-2164-EC49-9EB3-1616D5B7ADA6}" srcOrd="0" destOrd="0" presId="urn:microsoft.com/office/officeart/2005/8/layout/process1"/>
    <dgm:cxn modelId="{ACF6C407-F052-3448-93ED-47128072BD26}" type="presParOf" srcId="{4F699F35-32B6-C84D-ADA7-2D8FBC727D4C}" destId="{A46BDCF8-E4B1-C848-B43D-D863BDB7419E}" srcOrd="4" destOrd="0" presId="urn:microsoft.com/office/officeart/2005/8/layout/process1"/>
    <dgm:cxn modelId="{410529D3-5038-AA49-8747-7A7C1DFC5A75}" type="presParOf" srcId="{4F699F35-32B6-C84D-ADA7-2D8FBC727D4C}" destId="{7A0AD155-17AB-084B-93C4-F066DDC3EB9B}" srcOrd="5" destOrd="0" presId="urn:microsoft.com/office/officeart/2005/8/layout/process1"/>
    <dgm:cxn modelId="{495AF92F-00D7-2742-91D7-3D80715759AD}" type="presParOf" srcId="{7A0AD155-17AB-084B-93C4-F066DDC3EB9B}" destId="{8D6DBA23-C34D-2149-A1D7-4E6257E23DF7}" srcOrd="0" destOrd="0" presId="urn:microsoft.com/office/officeart/2005/8/layout/process1"/>
    <dgm:cxn modelId="{A7C86359-57DD-B449-BDD0-8642E5B8F9B4}" type="presParOf" srcId="{4F699F35-32B6-C84D-ADA7-2D8FBC727D4C}" destId="{B5ED4907-135A-EF48-946C-0B1D0262EF2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ECCEA-4FA0-0547-A8A7-A8E881B5084F}">
      <dsp:nvSpPr>
        <dsp:cNvPr id="0" name=""/>
        <dsp:cNvSpPr/>
      </dsp:nvSpPr>
      <dsp:spPr>
        <a:xfrm>
          <a:off x="6171" y="264318"/>
          <a:ext cx="2698208" cy="1618924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1. Gather data
recordings of calm conversations and lively video gameplay</a:t>
          </a:r>
          <a:r>
            <a:rPr lang="en-US" sz="1800" b="1" i="0" kern="120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</a:p>
      </dsp:txBody>
      <dsp:txXfrm>
        <a:off x="53588" y="311735"/>
        <a:ext cx="2603374" cy="1524090"/>
      </dsp:txXfrm>
    </dsp:sp>
    <dsp:sp modelId="{37F2F95F-94C5-0345-A1A8-52C1A829AD93}">
      <dsp:nvSpPr>
        <dsp:cNvPr id="0" name=""/>
        <dsp:cNvSpPr/>
      </dsp:nvSpPr>
      <dsp:spPr>
        <a:xfrm>
          <a:off x="2974200" y="739202"/>
          <a:ext cx="572020" cy="669155"/>
        </a:xfrm>
        <a:prstGeom prst="rightArrow">
          <a:avLst>
            <a:gd name="adj1" fmla="val 60000"/>
            <a:gd name="adj2" fmla="val 50000"/>
          </a:avLst>
        </a:prstGeom>
        <a:solidFill>
          <a:srgbClr val="BA0C2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>
            <a:solidFill>
              <a:srgbClr val="BA0C2F"/>
            </a:solidFill>
          </a:endParaRPr>
        </a:p>
      </dsp:txBody>
      <dsp:txXfrm>
        <a:off x="2974200" y="873033"/>
        <a:ext cx="400414" cy="401493"/>
      </dsp:txXfrm>
    </dsp:sp>
    <dsp:sp modelId="{6F3C7645-1725-554B-B121-4C8334E52F6E}">
      <dsp:nvSpPr>
        <dsp:cNvPr id="0" name=""/>
        <dsp:cNvSpPr/>
      </dsp:nvSpPr>
      <dsp:spPr>
        <a:xfrm>
          <a:off x="3783662" y="264318"/>
          <a:ext cx="2698208" cy="1618924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2. Build the AI
three models of increasing intelligence</a:t>
          </a:r>
          <a:r>
            <a:rPr lang="en-US" sz="1800" b="1" i="0" kern="120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endParaRPr lang="en-US" sz="1800" kern="1200" dirty="0"/>
        </a:p>
      </dsp:txBody>
      <dsp:txXfrm>
        <a:off x="3831079" y="311735"/>
        <a:ext cx="2603374" cy="1524090"/>
      </dsp:txXfrm>
    </dsp:sp>
    <dsp:sp modelId="{CB52ACBD-5938-FB48-88B7-057084F24704}">
      <dsp:nvSpPr>
        <dsp:cNvPr id="0" name=""/>
        <dsp:cNvSpPr/>
      </dsp:nvSpPr>
      <dsp:spPr>
        <a:xfrm>
          <a:off x="6751691" y="739202"/>
          <a:ext cx="572020" cy="669155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751691" y="873033"/>
        <a:ext cx="400414" cy="401493"/>
      </dsp:txXfrm>
    </dsp:sp>
    <dsp:sp modelId="{A46BDCF8-E4B1-C848-B43D-D863BDB7419E}">
      <dsp:nvSpPr>
        <dsp:cNvPr id="0" name=""/>
        <dsp:cNvSpPr/>
      </dsp:nvSpPr>
      <dsp:spPr>
        <a:xfrm>
          <a:off x="7561154" y="264318"/>
          <a:ext cx="2698208" cy="1618924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3. Add honesty
teach each AI to say how sure it is</a:t>
          </a:r>
          <a:r>
            <a:rPr lang="en-US" sz="1800" b="1" i="0" kern="120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endParaRPr lang="en-US" sz="1800" kern="1200" dirty="0"/>
        </a:p>
      </dsp:txBody>
      <dsp:txXfrm>
        <a:off x="7608571" y="311735"/>
        <a:ext cx="2603374" cy="1524090"/>
      </dsp:txXfrm>
    </dsp:sp>
    <dsp:sp modelId="{7A0AD155-17AB-084B-93C4-F066DDC3EB9B}">
      <dsp:nvSpPr>
        <dsp:cNvPr id="0" name=""/>
        <dsp:cNvSpPr/>
      </dsp:nvSpPr>
      <dsp:spPr>
        <a:xfrm>
          <a:off x="10530725" y="739202"/>
          <a:ext cx="575290" cy="669155"/>
        </a:xfrm>
        <a:prstGeom prst="rightArrow">
          <a:avLst>
            <a:gd name="adj1" fmla="val 60000"/>
            <a:gd name="adj2" fmla="val 50000"/>
          </a:avLst>
        </a:prstGeom>
        <a:solidFill>
          <a:srgbClr val="BA0C2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>
            <a:solidFill>
              <a:srgbClr val="BA0C2F"/>
            </a:solidFill>
          </a:endParaRPr>
        </a:p>
      </dsp:txBody>
      <dsp:txXfrm>
        <a:off x="10530725" y="873033"/>
        <a:ext cx="402703" cy="401493"/>
      </dsp:txXfrm>
    </dsp:sp>
    <dsp:sp modelId="{B5ED4907-135A-EF48-946C-0B1D0262EF2E}">
      <dsp:nvSpPr>
        <dsp:cNvPr id="0" name=""/>
        <dsp:cNvSpPr/>
      </dsp:nvSpPr>
      <dsp:spPr>
        <a:xfrm>
          <a:off x="11344816" y="264318"/>
          <a:ext cx="2698208" cy="1618924"/>
        </a:xfrm>
        <a:prstGeom prst="roundRect">
          <a:avLst>
            <a:gd name="adj" fmla="val 10000"/>
          </a:avLst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>4. Test it
does “90% sure” really mean right 9 times out of 10?</a:t>
          </a:r>
          <a:r>
            <a:rPr lang="en-US" sz="1800" b="1" i="0" kern="1200" dirty="0" err="1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r>
            <a:rPr lang="en-US" sz="1800" b="1" i="0" kern="1200" dirty="0"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rPr>
            <a:t/>
          </a:r>
          <a:endParaRPr lang="en-US" sz="1800" kern="1200" dirty="0"/>
        </a:p>
      </dsp:txBody>
      <dsp:txXfrm>
        <a:off x="11392233" y="311735"/>
        <a:ext cx="2603374" cy="1524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3891E7-C3BA-3646-A7FC-F0098B06E0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4FB73-E53B-1749-A059-FE7257A966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0E767-06F5-1743-8250-09BED16D1E0E}" type="datetimeFigureOut">
              <a:rPr lang="en-US" smtClean="0"/>
              <a:t>4/8/21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BA9DB-F905-5049-94C5-CA28F88F50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AA553-D214-1046-A6CC-A7C6D38172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8FCAB-9264-FF45-8959-444272B54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32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C99CA-AF55-2547-B865-ACD414BD3D5B}" type="datetimeFigureOut">
              <a:rPr lang="en-US" smtClean="0"/>
              <a:t>4/8/21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CAA77-372A-BC4B-8C05-DA1E75EBB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2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CAA77-372A-BC4B-8C05-DA1E75EBB0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6130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5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5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6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3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5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2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8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2167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5E40B-6DE2-BC44-9D41-DAE6D07500F7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66843-2171-0A4E-A25C-3792A956F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9" Type="http://schemas.openxmlformats.org/officeDocument/2006/relationships/image" Target="../media/image_arch.png"/><Relationship Id="rId100" Type="http://schemas.openxmlformats.org/officeDocument/2006/relationships/image" Target="../media/image_resL.png"/><Relationship Id="rId101" Type="http://schemas.openxmlformats.org/officeDocument/2006/relationships/image" Target="../media/image_res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0AD2D8-C138-C94C-94DD-ABB553EA7D13}"/>
              </a:ext>
            </a:extLst>
          </p:cNvPr>
          <p:cNvSpPr txBox="1"/>
          <p:nvPr/>
        </p:nvSpPr>
        <p:spPr>
          <a:xfrm>
            <a:off x="463519" y="2033666"/>
            <a:ext cx="828669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2">
                    <a:lumMod val="1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Quantifying Uncertainty in Affect Modelling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28539-8427-034D-AB3E-D080C970E1AF}"/>
              </a:ext>
            </a:extLst>
          </p:cNvPr>
          <p:cNvSpPr txBox="1"/>
          <p:nvPr/>
        </p:nvSpPr>
        <p:spPr>
          <a:xfrm>
            <a:off x="9198292" y="1959288"/>
            <a:ext cx="53828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Roman Vasilets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73C57-D36A-A144-A6CD-69ACDF1287F2}"/>
              </a:ext>
            </a:extLst>
          </p:cNvPr>
          <p:cNvSpPr/>
          <p:nvPr/>
        </p:nvSpPr>
        <p:spPr>
          <a:xfrm>
            <a:off x="9198293" y="2390175"/>
            <a:ext cx="5382895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Supervisor: Dr Konstantinos Makantasis</a:t>
            </a:r>
          </a:p>
          <a:p>
            <a:pPr>
              <a:spcAft>
                <a:spcPts val="200"/>
              </a:spcAft>
            </a:pPr>
            <a:r>
              <a:rPr lang="en-US" sz="20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May 2026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49B10F-6444-244B-886E-62EC6CD4F9A3}"/>
              </a:ext>
            </a:extLst>
          </p:cNvPr>
          <p:cNvCxnSpPr>
            <a:cxnSpLocks/>
          </p:cNvCxnSpPr>
          <p:nvPr/>
        </p:nvCxnSpPr>
        <p:spPr>
          <a:xfrm>
            <a:off x="8903825" y="1959288"/>
            <a:ext cx="0" cy="1164421"/>
          </a:xfrm>
          <a:prstGeom prst="line">
            <a:avLst/>
          </a:prstGeom>
          <a:ln w="3810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E562E36-6B89-F94B-92B8-421469385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585863"/>
              </p:ext>
            </p:extLst>
          </p:nvPr>
        </p:nvGraphicFramePr>
        <p:xfrm>
          <a:off x="538164" y="3596391"/>
          <a:ext cx="6769099" cy="383586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769099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572036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rgbClr val="BA0C2F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INTRODUCTION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  <a:tr h="3263833">
                <a:tc>
                  <a:txBody>
                    <a:bodyPr/>
                    <a:lstStyle/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Can a computer tell how you feel from your voice or your face? This question lies at the heart of affective computing — the field of building machines that can recognise human emotion. Emotion-aware AI promises kinder mental-health tools, more responsive video games, and more sensitive everyday technology.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dirty="0">
                        <a:latin typeface="Lato"/>
                        <a:ea typeface="Lato"/>
                        <a:cs typeface="Lato"/>
                      </a:endParaRP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But there is a problem. Emotions are subjective. Even two people watching the same video often disagree about how the speaker feels. Today's AI ignores that uncertainty — it always gives a single, confident answer, even when it really should not. This makes emotion-aware AI risky to trust in the real world.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1022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AF3251F-B069-FB41-8D62-197A70186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63912"/>
              </p:ext>
            </p:extLst>
          </p:nvPr>
        </p:nvGraphicFramePr>
        <p:xfrm>
          <a:off x="538161" y="14447123"/>
          <a:ext cx="14043025" cy="31280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43025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rgbClr val="BA0C2F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RESULTS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  <a:tr h="2588053">
                <a:tc>
                  <a:txBody>
                    <a:bodyPr/>
                    <a:lstStyle/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rgbClr val="7FB06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Calm conversations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The AI was honest about its confidence.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dirty="0">
                        <a:latin typeface="Lato"/>
                        <a:ea typeface="Lato"/>
                        <a:cs typeface="Lato"/>
                      </a:endParaRP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solidFill>
                            <a:srgbClr val="BA0C2F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Video gameplay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Slightly overconfident, still useful.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dirty="0">
                        <a:latin typeface="Lato"/>
                        <a:ea typeface="Lato"/>
                        <a:cs typeface="Lato"/>
                      </a:endParaRP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Smarter AI, sharper answers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Cleverer models gave tighter ranges.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10225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2513836-B525-7547-A041-4752351EF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743762"/>
              </p:ext>
            </p:extLst>
          </p:nvPr>
        </p:nvGraphicFramePr>
        <p:xfrm>
          <a:off x="7845427" y="17807674"/>
          <a:ext cx="6735761" cy="2873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5761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chemeClr val="bg1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REFERENCES</a:t>
                      </a:r>
                      <a:endParaRPr lang="en-US" b="0" i="1" dirty="0">
                        <a:solidFill>
                          <a:schemeClr val="bg1"/>
                        </a:solidFill>
                        <a:latin typeface="Lato Light" panose="020F0502020204030203" pitchFamily="34" charset="0"/>
                        <a:ea typeface="Lato Light" panose="020F0502020204030203" pitchFamily="34" charset="0"/>
                        <a:cs typeface="Lato Light" panose="020F050202020403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  <a:tr h="2333030">
                <a:tc>
                  <a:txBody>
                    <a:bodyPr/>
                    <a:lstStyle/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[1]  Ringeval et al., “RECOLA: a multimodal corpus of remote collaborative and affective interactions”, 2013.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[2]  Melhart, Liapis &amp; Yannakakis, “The AGAIN video game annotation dataset”, IEEE Trans. Affective Computing, 2022.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[3]  Shafer &amp; Vovk, “A tutorial on conformal prediction”, Journal of Machine Learning Research, 2008.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[4]  Boström, “Conformal prediction in Python with crepes”, Proc. Machine Learning Research, 2024.</a:t>
                      </a:r>
                    </a:p>
                  </a:txBody>
                  <a:tcPr>
                    <a:lnL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0225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CF9112A-0D85-A645-A5C0-856DCFA8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352906"/>
              </p:ext>
            </p:extLst>
          </p:nvPr>
        </p:nvGraphicFramePr>
        <p:xfrm>
          <a:off x="570316" y="11169917"/>
          <a:ext cx="14010871" cy="54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4010871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rgbClr val="BA0C2F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METHODOLOGY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A76AE7D-46E2-D741-A379-888C1DF94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692680"/>
              </p:ext>
            </p:extLst>
          </p:nvPr>
        </p:nvGraphicFramePr>
        <p:xfrm>
          <a:off x="570316" y="17747350"/>
          <a:ext cx="6736947" cy="3080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6947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rgbClr val="BA0C2F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CONCLUSIONS AND FUTURE WORK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  <a:tr h="2540232">
                <a:tc>
                  <a:txBody>
                    <a:bodyPr/>
                    <a:lstStyle/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This project shows it is possible to build emotion-recognising AI that knows when it isn't sure — and that this honesty can be added on top of any existing AI without retraining it. The result is a system far more trustworthy in real applications, from mental-health support to game design to assistive technology.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00" dirty="0">
                        <a:latin typeface="Lato"/>
                        <a:ea typeface="Lato"/>
                        <a:cs typeface="Lato"/>
                      </a:endParaRP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 xml:space="preserve">What worked:  </a:t>
                      </a:r>
                      <a:r>
                        <a:rPr lang="en-US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the honesty held up almost perfectly on calm laboratory recordings, and was only slightly optimistic on fast-moving gameplay.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00" dirty="0">
                        <a:latin typeface="Lato"/>
                        <a:ea typeface="Lato"/>
                        <a:cs typeface="Lato"/>
                      </a:endParaRP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 xml:space="preserve">Next steps:  </a:t>
                      </a:r>
                      <a:r>
                        <a:rPr lang="en-US" sz="15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close the gameplay gap, extend the method to facial expression alongside voice, and bring it to live, real-time settings. All the code is released openly so others can build on this work.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10225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E79CB83-B327-A140-8283-A9AC73600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813594"/>
              </p:ext>
            </p:extLst>
          </p:nvPr>
        </p:nvGraphicFramePr>
        <p:xfrm>
          <a:off x="570316" y="7981902"/>
          <a:ext cx="6736947" cy="27377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6947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490324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rgbClr val="BA0C2F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AIM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  <a:tr h="2219587">
                <a:tc>
                  <a:txBody>
                    <a:bodyPr/>
                    <a:lstStyle/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 xml:space="preserve">Aim:  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build emotion-recognising AI that does not just guess, but knows when it isn't sure — and how sure it really should be.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dirty="0">
                        <a:latin typeface="Lato"/>
                        <a:ea typeface="Lato"/>
                        <a:cs typeface="Lato"/>
                      </a:endParaRP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How we did it: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  Gather real emotional data — calm conversations and lively gameplay.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2.  Build three AI models, from simple to clever.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3.  Add an “honesty layer” called Conformal Prediction.</a:t>
                      </a:r>
                    </a:p>
                    <a:p>
                      <a:pPr marL="0" marR="0" lvl="0" indent="0" algn="l" defTabSz="1511960" rtl="0" eaLnBrk="1" fontAlgn="auto" latinLnBrk="0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4.  Test whether the AI's confidence matches reality.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10225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B7EE86-7D05-F747-8F31-866BE38A5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242924"/>
              </p:ext>
            </p:extLst>
          </p:nvPr>
        </p:nvGraphicFramePr>
        <p:xfrm>
          <a:off x="7845427" y="3596392"/>
          <a:ext cx="6735761" cy="51977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735761">
                  <a:extLst>
                    <a:ext uri="{9D8B030D-6E8A-4147-A177-3AD203B41FA5}">
                      <a16:colId xmlns:a16="http://schemas.microsoft.com/office/drawing/2014/main" val="2430199447"/>
                    </a:ext>
                  </a:extLst>
                </a:gridCol>
              </a:tblGrid>
              <a:tr h="519773">
                <a:tc>
                  <a:txBody>
                    <a:bodyPr/>
                    <a:lstStyle/>
                    <a:p>
                      <a:r>
                        <a:rPr lang="en-US" sz="2800" b="0" i="1" dirty="0">
                          <a:solidFill>
                            <a:srgbClr val="BA0C2F"/>
                          </a:solidFill>
                          <a:latin typeface="Lato Light" panose="020F0502020204030203" pitchFamily="34" charset="0"/>
                          <a:ea typeface="Lato Light" panose="020F0502020204030203" pitchFamily="34" charset="0"/>
                          <a:cs typeface="Lato Light" panose="020F0502020204030203" pitchFamily="34" charset="0"/>
                        </a:rPr>
                        <a:t>ARCHITECTURE DESIGN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0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550161"/>
                  </a:ext>
                </a:extLst>
              </a:tr>
            </a:tbl>
          </a:graphicData>
        </a:graphic>
      </p:graphicFrame>
      <p:pic>
        <p:nvPicPr>
          <p:cNvPr id="20" name="Architecture diagram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8122441" y="4158935"/>
            <a:ext cx="6200416" cy="6532878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2825C52-59A3-3942-B660-8B326AB1D8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465659"/>
              </p:ext>
            </p:extLst>
          </p:nvPr>
        </p:nvGraphicFramePr>
        <p:xfrm>
          <a:off x="538161" y="11865400"/>
          <a:ext cx="14043025" cy="2147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06D79F7-9C30-1F49-8487-92D85E860797}"/>
              </a:ext>
            </a:extLst>
          </p:cNvPr>
          <p:cNvSpPr/>
          <p:nvPr/>
        </p:nvSpPr>
        <p:spPr>
          <a:xfrm>
            <a:off x="11473132" y="602478"/>
            <a:ext cx="364621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BA0C2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B.Sc. IT (Hons.)</a:t>
            </a:r>
          </a:p>
          <a:p>
            <a:r>
              <a:rPr lang="en-US" sz="2500" b="1" dirty="0">
                <a:solidFill>
                  <a:srgbClr val="BA0C2F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Artificial Intelligence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9E329-3412-1F45-B65C-89F93DC7EC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76" y="-6794"/>
            <a:ext cx="8593282" cy="2187110"/>
          </a:xfrm>
          <a:prstGeom prst="rect">
            <a:avLst/>
          </a:prstGeom>
        </p:spPr>
      </p:pic>
      <p:pic>
        <p:nvPicPr>
          <p:cNvPr id="50" name="Results figure 1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212080" y="14676120"/>
            <a:ext cx="4572000" cy="2880360"/>
          </a:xfrm>
          <a:prstGeom prst="rect">
            <a:avLst/>
          </a:prstGeom>
        </p:spPr>
      </p:pic>
      <p:pic>
        <p:nvPicPr>
          <p:cNvPr id="51" name="Results figure 2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9921240" y="14676120"/>
            <a:ext cx="466344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1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531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Lato Black</vt:lpstr>
      <vt:lpstr>Lato Light</vt:lpstr>
      <vt:lpstr>Lato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34</cp:revision>
  <cp:lastPrinted>2020-02-20T07:04:01Z</cp:lastPrinted>
  <dcterms:created xsi:type="dcterms:W3CDTF">2020-01-29T13:06:55Z</dcterms:created>
  <dcterms:modified xsi:type="dcterms:W3CDTF">2021-04-08T13:38:34Z</dcterms:modified>
</cp:coreProperties>
</file>